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Incremental Revenue (₹ Cr)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47C-48A9-A45D-FAA310774DF4}"/>
              </c:ext>
            </c:extLst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47C-48A9-A45D-FAA310774DF4}"/>
              </c:ext>
            </c:extLst>
          </c:dPt>
          <c:dPt>
            <c:idx val="2"/>
            <c:invertIfNegative val="0"/>
            <c:bubble3D val="0"/>
            <c:spPr>
              <a:solidFill>
                <a:srgbClr val="0F76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47C-48A9-A45D-FAA310774DF4}"/>
              </c:ext>
            </c:extLst>
          </c:dPt>
          <c:dPt>
            <c:idx val="3"/>
            <c:invertIfNegative val="0"/>
            <c:bubble3D val="0"/>
            <c:spPr>
              <a:solidFill>
                <a:srgbClr val="1D4E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47C-48A9-A45D-FAA310774DF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D111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Base Case
(Dwell × Ads)</c:v>
                </c:pt>
                <c:pt idx="1">
                  <c:v>Video Studio
(Virality)</c:v>
                </c:pt>
                <c:pt idx="2">
                  <c:v>Vernacular
Expansion</c:v>
                </c:pt>
                <c:pt idx="3">
                  <c:v>Cost Savings
(Ops)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</c:v>
                </c:pt>
                <c:pt idx="1">
                  <c:v>32.85</c:v>
                </c:pt>
                <c:pt idx="2">
                  <c:v>26</c:v>
                </c:pt>
                <c:pt idx="3">
                  <c:v>18.3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47C-48A9-A45D-FAA310774DF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0716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AF9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554480" y="29260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kern="0" spc="6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AF9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Model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Business Impact of ET Pulse — AI-Native News Experience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137160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08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AI Hackathon 2026  ·  Problem Statement 8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1920240" cy="914400"/>
          </a:xfrm>
          <a:prstGeom prst="rect">
            <a:avLst/>
          </a:prstGeom>
          <a:solidFill>
            <a:srgbClr val="1A2332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0416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₹137 Cr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8640" y="44622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impact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3977640"/>
            <a:ext cx="1920240" cy="914400"/>
          </a:xfrm>
          <a:prstGeom prst="rect">
            <a:avLst/>
          </a:prstGeom>
          <a:solidFill>
            <a:srgbClr val="1A2332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40416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697480" y="44622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time increase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3977640"/>
            <a:ext cx="1920240" cy="914400"/>
          </a:xfrm>
          <a:prstGeom prst="rect">
            <a:avLst/>
          </a:prstGeom>
          <a:solidFill>
            <a:srgbClr val="1A2332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40416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800M+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846320" y="44622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 TAM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3977640"/>
            <a:ext cx="1920240" cy="914400"/>
          </a:xfrm>
          <a:prstGeom prst="rect">
            <a:avLst/>
          </a:prstGeom>
          <a:solidFill>
            <a:srgbClr val="1A2332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95160" y="40416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995160" y="44622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features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Assumptions &amp; Methodology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estimates are back-of-envelope with stated assumptions. Conservative figures used throughout.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8346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834640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353312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metrics (ET platform)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783080"/>
            <a:ext cx="261518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Active Users: 50,000,000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session duration: 4 minutes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pages per session: 2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CPM (display ads): ₹150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CPM: ₹300 (2× display)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ET investor reports, IAMAI 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8688" y="1234440"/>
            <a:ext cx="28346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1234440"/>
            <a:ext cx="283464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28416" y="1353312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assumptions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28416" y="1783080"/>
            <a:ext cx="261518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Navigator adoption: 5% of MAU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ET feed adoption: 8% of MAU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Studio usage: 0.4% generate, rest view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 uptake: 10% of non-English users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— industry benchmarks for AI feature adoption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Ramp-up period: 6 months to full adoption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63056" y="1234440"/>
            <a:ext cx="28346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3056" y="1234440"/>
            <a:ext cx="283464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2784" y="1353312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changes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72784" y="1783080"/>
            <a:ext cx="261518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time: 4 min → 12 min (3× — briefing engagement)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Pages/session: 2 → 6 (cross-feature navigation)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visit frequency: +40% (personalised feed)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 users: 1 session/week, 52/year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shares: avg 1,500 views per generated video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Nielsen, ComScore personalisation studies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Impact — Base Case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Navigator + My ET + Story Arc   ·   Incremental ad revenue from dwell-time increase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53035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98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MAU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0" y="12984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50,000,000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12984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733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adoption (5%)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16733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2,500,000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67335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0482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/ user / week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04825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04825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/ year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423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130,000,000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423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2.5M × 52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7980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/ session (new)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279806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79806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 baseline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1729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impressions / yr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31729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780,000,000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1729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130M × 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5478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0" y="35478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354787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display rate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3886200"/>
            <a:ext cx="530352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92277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ad revenue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39227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₹117 Cr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392277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297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revenue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83280" y="4297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₹39 Cr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46320" y="4297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130M × 2 pages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852160" y="1188720"/>
            <a:ext cx="3017520" cy="1600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852160" y="13716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₹78 Cr</a:t>
            </a:r>
            <a:endParaRPr lang="en-US" sz="4600" dirty="0"/>
          </a:p>
        </p:txBody>
      </p:sp>
      <p:sp>
        <p:nvSpPr>
          <p:cNvPr id="36" name="Text 34"/>
          <p:cNvSpPr/>
          <p:nvPr/>
        </p:nvSpPr>
        <p:spPr>
          <a:xfrm>
            <a:off x="5852160" y="2148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ANNUAL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kern="0" spc="1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REVENUE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852160" y="2926080"/>
            <a:ext cx="3017520" cy="640080"/>
          </a:xfrm>
          <a:prstGeom prst="rect">
            <a:avLst/>
          </a:prstGeom>
          <a:solidFill>
            <a:srgbClr val="FFF3F3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0" y="29992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₹117 Cr gross  −  ₹39 Cr baseline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₹78 Cr incremental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852160" y="3657600"/>
            <a:ext cx="3017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943600" y="37307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943600" y="3977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  (all free tier)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943600" y="4297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free · Railway $5/mo · Vercel free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Impact — Video Studio &amp; Vernacular Engine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additional revenue streams on top of the base case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605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416052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News Video Studio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generated / day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783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18541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views per video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218541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5877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(via WhatsApp + social share)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9900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sessions / year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9900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109.5M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39242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CPM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339242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749040"/>
            <a:ext cx="416052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794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ad revenue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3794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₹32.85 Cr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4206240"/>
            <a:ext cx="4160520" cy="50292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2611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virality: each video shared to avg 3 groups of 500 = 1,500 new ET touchpoints per video. Incremental revenue = ₹32.85 Cr/yr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188720"/>
            <a:ext cx="41605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188720"/>
            <a:ext cx="416052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29844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 Engine (3 Languages)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46320" y="17830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Non-English smartphone users (IN)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89520" y="17830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21671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vernacular MAU (current est.)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89520" y="216712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25511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users unlocked (3% of 200M gap)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89520" y="255117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293522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/ user / year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89520" y="293522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46320" y="33192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new sessions / year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589520" y="331927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46320" y="3703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 (vernacular inventory)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589520" y="370332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09160" y="4041648"/>
            <a:ext cx="416052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40873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 ad revenue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589520" y="408736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₹26 Cr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709160" y="4206240"/>
            <a:ext cx="4160520" cy="502920"/>
          </a:xfrm>
          <a:prstGeom prst="rect">
            <a:avLst/>
          </a:prstGeom>
          <a:solidFill>
            <a:srgbClr val="F0FDFB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18888" y="42611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800M+ non-English speakers. Even 1% adoption = massive reach. Hindi/Tamil/Telugu/Bengali covers 78% of India by mother tongue.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Saved &amp; Cost Reduced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savings across ET editorial team, analysts, and end users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2834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88720"/>
            <a:ext cx="2834640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" y="1325880"/>
            <a:ext cx="347472" cy="34747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58952" y="134416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Journalist / Editorial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" y="1810512"/>
            <a:ext cx="2615184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184708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hrs → 8 min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8328" y="219456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arc research time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" y="2542032"/>
            <a:ext cx="26151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Arc Tracker replaces manual aggregation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has ~500 journalists &amp; analysts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2 story arcs / journalist / week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saved: 3.87 hrs × 2 × 500 × 52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201,240 hours saved / year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₹800/hr avg cost = ₹16.1 Cr / year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72968" y="1188720"/>
            <a:ext cx="2834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1188720"/>
            <a:ext cx="283464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82696" y="1325880"/>
            <a:ext cx="347472" cy="3474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82696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03320" y="134416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Operations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82696" y="1810512"/>
            <a:ext cx="2615184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82696" y="184708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282696" y="219456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briefing prep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82696" y="2542032"/>
            <a:ext cx="26151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Navigator auto-generates briefings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research desk: ~50 analysts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3 briefings / analyst / day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briefing: 45 min → AI: 8 sec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saved: 44 min × 3 × 50 × 250 days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27,500 hours / year = ₹2.2 Cr saved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17336" y="1188720"/>
            <a:ext cx="2834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17336" y="1188720"/>
            <a:ext cx="283464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27064" y="1325880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27064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47688" y="134416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Production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27064" y="1810512"/>
            <a:ext cx="2615184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27064" y="184708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₹8,000 → ₹0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227064" y="219456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video production cost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27064" y="2542032"/>
            <a:ext cx="26151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90s news clip: ₹8,000–15,000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Pulse video: ₹0 marginal cost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videos / day = 73,000 / year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avoided: ₹8,000 × 73,000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₹58.4 Cr in production cost avoided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at 1% of this scale = ₹58 lakh saved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Combined Revenue Impact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revenue streams combined — annual incremental impact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97280"/>
          <a:ext cx="53035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143000"/>
            <a:ext cx="2880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0" y="1143000"/>
            <a:ext cx="64008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80760" y="1216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(ad revenue)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80760" y="14630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₹78 Cr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943600" y="1965960"/>
            <a:ext cx="2880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1965960"/>
            <a:ext cx="64008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0760" y="2039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studio virality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080760" y="22860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₹32.85 Cr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943600" y="2788920"/>
            <a:ext cx="2880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43600" y="2788920"/>
            <a:ext cx="64008" cy="685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80760" y="2862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 expansion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080760" y="31089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₹26 Cr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943600" y="3611880"/>
            <a:ext cx="2880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43600" y="3611880"/>
            <a:ext cx="64008" cy="6858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80760" y="3685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cost savings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080760" y="39319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₹18.3 Cr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943600" y="4434840"/>
            <a:ext cx="2880360" cy="5943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035040" y="44622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ANNUAL IMPACT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035040" y="4681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₹155 Cr / year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Revenue — User &amp; Social Impact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impact on Indian readers and the financial literacy ecosystem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88720"/>
            <a:ext cx="64008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2801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 min → 5 min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93192" y="164592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understand a complex story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" y="190195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Navigator synthesises 8 articles into 1 briefing. Reader saves 20 minutes per story.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88720"/>
            <a:ext cx="64008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2801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73752" y="164592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Indians without a financial plan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73752" y="190195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briefings in vernacular languages make financial news accessible to first-generation investors.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487168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487168"/>
            <a:ext cx="64008" cy="1143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257860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hallucinations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93192" y="294436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 agent on every brief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" y="32004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is cited to a source article. Low-confidence claims are flagged with a warning badge.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487168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487168"/>
            <a:ext cx="64008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257860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800M+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873752" y="294436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addressable readers via vernacular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73752" y="32004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Hindi, Tamil, Telugu, Bengali — covers 78% of India by mother tongue. Not translation — cultural adaptation.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3785616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785616"/>
            <a:ext cx="64008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" y="387705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hrs → 8 sec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93192" y="424281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arc built by ET journalists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93192" y="449884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editorial team from manual aggregation. 200,000+ analyst-hours reclaimed annually.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785616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785616"/>
            <a:ext cx="64008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3752" y="387705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1,500+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873752" y="424281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ET touchpoints per video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73752" y="449884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videos distributed via WhatsApp. Each video is a distribution channel outside the app.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AF9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554480" y="29260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kern="0" spc="6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AF9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math holds.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AF9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 is ready.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AF9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tools are built.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137160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175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₹155 Cr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3611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impact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06040" y="30175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606040" y="3611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increase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30175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800M+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754880" y="3611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 addressable market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03720" y="30175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903720" y="3611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 (free tier)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are back-of-envelope estimates with stated assumptions. Conservative adoption rates used throughout.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997</Words>
  <Application>Microsoft Office PowerPoint</Application>
  <PresentationFormat>On-screen Show (16:9)</PresentationFormat>
  <Paragraphs>189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 Pulse — Impact Model</dc:title>
  <dc:subject>PptxGenJS Presentation</dc:subject>
  <dc:creator>PptxGenJS</dc:creator>
  <cp:lastModifiedBy>Parshva Shah</cp:lastModifiedBy>
  <cp:revision>3</cp:revision>
  <dcterms:created xsi:type="dcterms:W3CDTF">2026-03-28T17:24:32Z</dcterms:created>
  <dcterms:modified xsi:type="dcterms:W3CDTF">2026-03-28T20:06:18Z</dcterms:modified>
</cp:coreProperties>
</file>